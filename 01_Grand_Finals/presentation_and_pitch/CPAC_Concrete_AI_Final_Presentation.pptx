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5303520" cy="36576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t>AI HACKATHON ROUTE OPTIMIZATION 2026 · GRAND FINALS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Leelawadee UI"/>
              </a:defRPr>
            </a:pPr>
            <a:r>
              <a:t>CPAC Concrete AI</a:t>
            </a:r>
          </a:p>
          <a:p>
            <a:pPr>
              <a:defRPr sz="2200">
                <a:solidFill>
                  <a:srgbClr val="0EA5E9"/>
                </a:solidFill>
                <a:latin typeface="Leelawadee UI"/>
              </a:defRPr>
            </a:pPr>
            <a:r>
              <a:t>Next-Gen Dynamic Fleet &amp; Route Optimization for Green Logistics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329184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10B981"/>
                </a:solidFill>
                <a:latin typeface="Leelawadee UI"/>
              </a:defRPr>
            </a:pPr>
            <a:r>
              <a:t>SLA 100% PERFECT</a:t>
            </a:r>
          </a:p>
          <a:p>
            <a:pPr>
              <a:defRPr sz="1700" b="1">
                <a:solidFill>
                  <a:srgbClr val="F8FAFC"/>
                </a:solidFill>
                <a:latin typeface="Leelawadee UI"/>
              </a:defRPr>
            </a:pPr>
            <a:r>
              <a:t>54/54 Checks Passed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ผ่านเกณฑ์ 100% ทุกเกรด G1-G7 ทุกวัน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657600"/>
            <a:ext cx="329184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EA5E9"/>
                </a:solidFill>
                <a:latin typeface="Leelawadee UI"/>
              </a:defRPr>
            </a:pPr>
            <a:r>
              <a:t>TOTAL CONTRIBUTION</a:t>
            </a:r>
          </a:p>
          <a:p>
            <a:pPr>
              <a:defRPr sz="1700" b="1">
                <a:solidFill>
                  <a:srgbClr val="F8FAFC"/>
                </a:solidFill>
                <a:latin typeface="Leelawadee UI"/>
              </a:defRPr>
            </a:pPr>
            <a:r>
              <a:t>฿1,495,416 THB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+฿160,295 สูงกว่าแผนพนักงานเดิม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657600"/>
            <a:ext cx="329184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F59E0B"/>
                </a:solidFill>
                <a:latin typeface="Leelawadee UI"/>
              </a:defRPr>
            </a:pPr>
            <a:r>
              <a:t>ZERO DEFECT DELIVERY</a:t>
            </a:r>
          </a:p>
          <a:p>
            <a:pPr>
              <a:defRPr sz="1700" b="1">
                <a:solidFill>
                  <a:srgbClr val="F8FAFC"/>
                </a:solidFill>
                <a:latin typeface="Leelawadee UI"/>
              </a:defRPr>
            </a:pPr>
            <a:r>
              <a:t>0 Cold Joints · 0 Rejections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ควบคุม Slump Life และความต่อเนื่อง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4A3B8"/>
                </a:solidFill>
                <a:latin typeface="Leelawadee UI"/>
              </a:defRPr>
            </a:pPr>
            <a:r>
              <a:t>ทีมผู้พัฒนา: Team Champion | รองรับ Offline 100% · คำนวณจบใน 0.65 วินาที · พร้อมรัน Hidden Day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Leelawadee UI"/>
              </a:defRPr>
            </a:pPr>
            <a:r>
              <a:t>PROBLEM &amp; PAIN 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65760"/>
            <a:ext cx="2468880" cy="320040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Leelawadee UI"/>
              </a:defRPr>
            </a:pPr>
            <a:r>
              <a:t>SLA 100% 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Leelawadee UI"/>
              </a:defRPr>
            </a:pPr>
            <a:r>
              <a:t>1. โจทย์และความท้าทาย: เมื่อคอนกรีตคือสินค้าที่มีเวลาถอยหลังตลอดเวลา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11D48"/>
                </a:solidFill>
                <a:latin typeface="Leelawadee UI"/>
              </a:defRPr>
            </a:pPr>
            <a:r>
              <a:t>วิกฤตทางกายภาพของคอนกรีตผสมเสร็จ (Physical Dilemma)</a:t>
            </a:r>
          </a:p>
          <a:p>
            <a:br/>
            <a:pPr>
              <a:defRPr sz="1150" b="1">
                <a:solidFill>
                  <a:srgbClr val="F8FAFC"/>
                </a:solidFill>
                <a:latin typeface="Leelawadee UI"/>
              </a:defRPr>
            </a:pPr>
            <a:r>
              <a:t>⏳ อายุคอนกรีตสั้น (Slump Life):</a:t>
            </a:r>
          </a:p>
          <a:p>
            <a:pPr>
              <a:defRPr sz="1050">
                <a:solidFill>
                  <a:srgbClr val="94A3B8"/>
                </a:solidFill>
                <a:latin typeface="Leelawadee UI"/>
              </a:defRPr>
            </a:pPr>
            <a:r>
              <a:t>ต้องเทให้เสร็จภายใน 120 นาที (สูตรหน่วง 150 นาที) หากติดไฟแดงหรือคอยนาน ปูนแข็งตัวในโม่ ต้องเททิ้ง เสียหายหลักล้าน</a:t>
            </a:r>
          </a:p>
          <a:p>
            <a:br/>
            <a:pPr>
              <a:defRPr sz="1150" b="1">
                <a:solidFill>
                  <a:srgbClr val="F8FAFC"/>
                </a:solidFill>
                <a:latin typeface="Leelawadee UI"/>
              </a:defRPr>
            </a:pPr>
            <a:r>
              <a:t>⚡ รอยต่อคอนกรีตแข็งตัว (Cold Joint):</a:t>
            </a:r>
          </a:p>
          <a:p>
            <a:pPr>
              <a:defRPr sz="1050">
                <a:solidFill>
                  <a:srgbClr val="94A3B8"/>
                </a:solidFill>
                <a:latin typeface="Leelawadee UI"/>
              </a:defRPr>
            </a:pPr>
            <a:r>
              <a:t>ปั๊ม/รางห้ามขาดช่วงเกิน 20 นาที หากขาดช่วง โครงสร้างอาคารจะแตกร้าว ไม่ได้มาตรฐานวิศวกรรม</a:t>
            </a:r>
          </a:p>
          <a:p>
            <a:br/>
            <a:pPr>
              <a:defRPr sz="1150" b="1">
                <a:solidFill>
                  <a:srgbClr val="F8FAFC"/>
                </a:solidFill>
                <a:latin typeface="Leelawadee UI"/>
              </a:defRPr>
            </a:pPr>
            <a:r>
              <a:t>🚦 จราจรเมโทรซิตี้คาดเดายาก:</a:t>
            </a:r>
          </a:p>
          <a:p>
            <a:pPr>
              <a:defRPr sz="1050">
                <a:solidFill>
                  <a:srgbClr val="94A3B8"/>
                </a:solidFill>
                <a:latin typeface="Leelawadee UI"/>
              </a:defRPr>
            </a:pPr>
            <a:r>
              <a:t>ช่วง Rush Hour ติดขัด 1.35x-2.0x, เขตโรงเรียนห้ามเข้า 06:30-08:30 น., และถนนปิดจัดงานเทศกาล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Leelawadee UI"/>
              </a:defRPr>
            </a:pPr>
            <a:r>
              <a:t>ผลกระทบต่อธุรกิจและสิ่งแวดล้อม (Cost of Inefficiency)</a:t>
            </a:r>
          </a:p>
          <a:p>
            <a:br/>
            <a:pPr>
              <a:defRPr sz="1150" b="1">
                <a:solidFill>
                  <a:srgbClr val="F8FAFC"/>
                </a:solidFill>
                <a:latin typeface="Leelawadee UI"/>
              </a:defRPr>
            </a:pPr>
            <a:r>
              <a:t>💸 สูญเสียกำไรและค่าปรับ:</a:t>
            </a:r>
          </a:p>
          <a:p>
            <a:pPr>
              <a:defRPr sz="1050">
                <a:solidFill>
                  <a:srgbClr val="94A3B8"/>
                </a:solidFill>
                <a:latin typeface="Leelawadee UI"/>
              </a:defRPr>
            </a:pPr>
            <a:r>
              <a:t>แผนเดิมของพนักงาน (Baseline Planner) มี Cold Joint ถึง 20 จุด, ปูนทิ้ง 4 เที่ยว และตก SLA ถึง 37 จาก 54 เกณฑ์</a:t>
            </a:r>
          </a:p>
          <a:p>
            <a:br/>
            <a:pPr>
              <a:defRPr sz="1150" b="1">
                <a:solidFill>
                  <a:srgbClr val="F8FAFC"/>
                </a:solidFill>
                <a:latin typeface="Leelawadee UI"/>
              </a:defRPr>
            </a:pPr>
            <a:r>
              <a:t>🏭 คอขวดโรงงาน (Plant Queuing):</a:t>
            </a:r>
          </a:p>
          <a:p>
            <a:pPr>
              <a:defRPr sz="1050">
                <a:solidFill>
                  <a:srgbClr val="94A3B8"/>
                </a:solidFill>
                <a:latin typeface="Leelawadee UI"/>
              </a:defRPr>
            </a:pPr>
            <a:r>
              <a:t>รถโม่ไปกระจุกรอคิวโหลดพร้อมกัน เครื่องผสมผลิตไม่ทัน เกิดรถจอดรอเปล่าประโยชน์ (Idle Waiting)</a:t>
            </a:r>
          </a:p>
          <a:p>
            <a:br/>
            <a:pPr>
              <a:defRPr sz="1150" b="1">
                <a:solidFill>
                  <a:srgbClr val="F8FAFC"/>
                </a:solidFill>
                <a:latin typeface="Leelawadee UI"/>
              </a:defRPr>
            </a:pPr>
            <a:r>
              <a:t>🌍 ปล่อยมลพิษและคาร์บอนเกินจำเป็น:</a:t>
            </a:r>
          </a:p>
          <a:p>
            <a:pPr>
              <a:defRPr sz="1050">
                <a:solidFill>
                  <a:srgbClr val="94A3B8"/>
                </a:solidFill>
                <a:latin typeface="Leelawadee UI"/>
              </a:defRPr>
            </a:pPr>
            <a:r>
              <a:t>ระยะทางวิ่งเปล่าและรถติดเครื่องรอหน้างาน เผาผลาญน้ำมันดีเซล สร้างคาร์บอนฟุตพริ้นต์ขัดต่อนโยบาย ESG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Leelawadee UI"/>
              </a:defRPr>
            </a:pPr>
            <a:r>
              <a:t>STRATEGIC LEVERS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65760"/>
            <a:ext cx="2468880" cy="320040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Leelawadee UI"/>
              </a:defRPr>
            </a:pPr>
            <a:r>
              <a:t>SLA 100% 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Leelawadee UI"/>
              </a:defRPr>
            </a:pPr>
            <a:r>
              <a:t>2. กลยุทธ์การแก้ปัญหา: ปลดล็อก 3 คันโยกสำคัญขับเคลื่อนทั้ง Supply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  <a:latin typeface="Leelawadee UI"/>
              </a:defRPr>
            </a:pPr>
            <a:r>
              <a:t>คันโยกที่ 1: Dynamic Customer Flexibility</a:t>
            </a:r>
          </a:p>
          <a:p>
            <a:pPr>
              <a:defRPr sz="1000" b="1">
                <a:solidFill>
                  <a:srgbClr val="94A3B8"/>
                </a:solidFill>
                <a:latin typeface="Leelawadee UI"/>
              </a:defRPr>
            </a:pPr>
            <a:r>
              <a:t>Output: order_changes.csv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เจรจาเวลาล่วงหน้าบนเงื่อนไขสัญญา (19 ราย)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เลื่อนเริ่มโครงการใหญ่ (C01 +150 นาที) เกลี่ยโหลดเช้า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ขยับพ้นเวลาห้ามเข้าเขตโรงเรียน (08:50 หรือ 10:00)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ถอยเวลาออเดอร์ก่อนช่วงเวลาปิดถนนริมน้ำ (Day 3)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ไม่กระทบลูกค้า แต่วิศวกรรมทำงานได้ราบรื่น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Leelawadee UI"/>
              </a:defRPr>
            </a:pPr>
            <a:r>
              <a:t>คันโยกที่ 2: Targeted Plant Boosting</a:t>
            </a:r>
          </a:p>
          <a:p>
            <a:pPr>
              <a:defRPr sz="1000" b="1">
                <a:solidFill>
                  <a:srgbClr val="94A3B8"/>
                </a:solidFill>
                <a:latin typeface="Leelawadee UI"/>
              </a:defRPr>
            </a:pPr>
            <a:r>
              <a:t>Output: production_plan.csv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เพิ่มไลน์ผลิตชั่วคราว (+1 ไลน์) เฉพาะโรงงานที่คุ้มค่า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เปิด Boost โรงงาน P05 และ P06 ในช่วง Demand สูง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ป้องกันปัญหารถโม่รอคิวนานหน้าแพลนท์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ทำหน้าที่เป็น 'เกราะคุ้มกันความเสี่ยง' ต่อ truth.json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ควบคุมต้นทุนเพิ่มไลน์ให้คุ้มกับกำไรและการผ่าน SLA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5CF6"/>
                </a:solidFill>
                <a:latin typeface="Leelawadee UI"/>
              </a:defRPr>
            </a:pPr>
            <a:r>
              <a:t>คันโยกที่ 3: Intelligent Fleet Dispatching</a:t>
            </a:r>
          </a:p>
          <a:p>
            <a:pPr>
              <a:defRPr sz="1000" b="1">
                <a:solidFill>
                  <a:srgbClr val="94A3B8"/>
                </a:solidFill>
                <a:latin typeface="Leelawadee UI"/>
              </a:defRPr>
            </a:pPr>
            <a:r>
              <a:t>Output: plan.csv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จัดคู่โรงงาน-รถโม่-เวลาโหลด ด้วยอัลกอริทึม 4 ระดับ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เคารพข้อจำกัดรถเล็ก 2 m³ และสิทธิ์ Vendor 100%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แยกโครงการเทขนาน (Stream A &amp; B) ไปคนละโรงงาน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กระจายโหลดจากโรงงานที่เพิ่มไลน์ไม่ได้ (P07)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คำนวณจบใน 0.65 วินาที พร้อมรัน Hidden Day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Leelawadee UI"/>
              </a:defRPr>
            </a:pPr>
            <a:r>
              <a:t>SOLUTION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65760"/>
            <a:ext cx="2468880" cy="320040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Leelawadee UI"/>
              </a:defRPr>
            </a:pPr>
            <a:r>
              <a:t>SLA 100% 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Leelawadee UI"/>
              </a:defRPr>
            </a:pPr>
            <a:r>
              <a:t>3. สถาปัตยกรรมอัลกอริทึม: Dynamic Rule-Based ไร้การ Hardcode 100%</a:t>
            </a:r>
          </a:p>
        </p:txBody>
      </p:sp>
      <p:pic>
        <p:nvPicPr>
          <p:cNvPr id="6" name="Picture 5" descr="char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440680"/>
            <a:ext cx="106984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  <a:latin typeface="Leelawadee UI"/>
              </a:defRPr>
            </a:pPr>
            <a:r>
              <a:t>จุดเด่นทางเทคนิคที่ผ่านการรับรอง (Technical Excellence):</a:t>
            </a:r>
          </a:p>
          <a:p>
            <a:pPr>
              <a:defRPr sz="1000">
                <a:solidFill>
                  <a:srgbClr val="F8FAFC"/>
                </a:solidFill>
                <a:latin typeface="Leelawadee UI"/>
              </a:defRPr>
            </a:pPr>
            <a:r>
              <a:t>✓ 100% Dynamic Logic: ไม่มีการ Hardcode ชื่อลูกค้าหรือ Order ID ใดๆ ตัดสินใจจากแอตทริบิวต์จริงของไซต์งานและสัญญา</a:t>
            </a:r>
            <a:br/>
            <a:r>
              <a:t>✓ Pass 4 Unbreakable Fallback: รับประกันว่าไม่มีทางเกิด Crash หรือ Error ไม่ว่า Day 5 จะมีข้อจำกัดหรือคนขับลามากแค่ไหน</a:t>
            </a:r>
            <a:br/>
            <a:r>
              <a:t>✓ Ultra Fast &amp; Offline 100%: ใช้ Python Standard Library เท่านั้น ทำงานจบใน 0.65 วินาที (ต่ำกว่าขีดจำกัด 5 นาที 450 เท่า)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Leelawadee UI"/>
              </a:defRPr>
            </a:pPr>
            <a:r>
              <a:t>BUSINESS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65760"/>
            <a:ext cx="2468880" cy="320040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Leelawadee UI"/>
              </a:defRPr>
            </a:pPr>
            <a:r>
              <a:t>SLA 100% 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Leelawadee UI"/>
              </a:defRPr>
            </a:pPr>
            <a:r>
              <a:t>4. ผลลัพธ์ตัวเลขทางธุรกิจ: ผ่าน SLA 100% เต็มทุกวัน ทำกำไรสะสม 1.495 ล้านบาท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840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Leelawadee UI"/>
              </a:defRPr>
            </a:pPr>
            <a:r>
              <a:t>ตารางคะแนนทางการ (Scorecard Summary)</a:t>
            </a:r>
          </a:p>
          <a:p>
            <a:br/>
            <a:pPr>
              <a:defRPr sz="1050" b="1">
                <a:solidFill>
                  <a:srgbClr val="0EA5E9"/>
                </a:solidFill>
                <a:latin typeface="Leelawadee UI"/>
              </a:defRPr>
            </a:pPr>
            <a:r>
              <a:t>คะแนนความต่อเนื่อง (SLA Score)</a:t>
            </a:r>
          </a:p>
          <a:p>
            <a:pPr>
              <a:defRPr sz="1200" b="1">
                <a:solidFill>
                  <a:srgbClr val="F8FAFC"/>
                </a:solidFill>
                <a:latin typeface="Leelawadee UI"/>
              </a:defRPr>
            </a:pPr>
            <a:r>
              <a:t>60.0 / 60 เต็มทุกวัน</a:t>
            </a:r>
          </a:p>
          <a:p>
            <a:br/>
            <a:pPr>
              <a:defRPr sz="1050" b="1">
                <a:solidFill>
                  <a:srgbClr val="0EA5E9"/>
                </a:solidFill>
                <a:latin typeface="Leelawadee UI"/>
              </a:defRPr>
            </a:pPr>
            <a:r>
              <a:t>กำไรส่วนเกินสะสม (Contribution)</a:t>
            </a:r>
          </a:p>
          <a:p>
            <a:pPr>
              <a:defRPr sz="1200" b="1">
                <a:solidFill>
                  <a:srgbClr val="F8FAFC"/>
                </a:solidFill>
                <a:latin typeface="Leelawadee UI"/>
              </a:defRPr>
            </a:pPr>
            <a:r>
              <a:t>฿1,495,416 THB</a:t>
            </a:r>
          </a:p>
          <a:p>
            <a:br/>
            <a:pPr>
              <a:defRPr sz="1050" b="1">
                <a:solidFill>
                  <a:srgbClr val="0EA5E9"/>
                </a:solidFill>
                <a:latin typeface="Leelawadee UI"/>
              </a:defRPr>
            </a:pPr>
            <a:r>
              <a:t>รอยต่อคอนกรีตเสีย (Cold Joints)</a:t>
            </a:r>
          </a:p>
          <a:p>
            <a:pPr>
              <a:defRPr sz="1200" b="1">
                <a:solidFill>
                  <a:srgbClr val="F8FAFC"/>
                </a:solidFill>
                <a:latin typeface="Leelawadee UI"/>
              </a:defRPr>
            </a:pPr>
            <a:r>
              <a:t>0 จุด (100% สมบูรณ์)</a:t>
            </a:r>
          </a:p>
          <a:p>
            <a:br/>
            <a:pPr>
              <a:defRPr sz="1050" b="1">
                <a:solidFill>
                  <a:srgbClr val="0EA5E9"/>
                </a:solidFill>
                <a:latin typeface="Leelawadee UI"/>
              </a:defRPr>
            </a:pPr>
            <a:r>
              <a:t>คอนกรีตถูกปฏิเสธ (Rejections)</a:t>
            </a:r>
          </a:p>
          <a:p>
            <a:pPr>
              <a:defRPr sz="1200" b="1">
                <a:solidFill>
                  <a:srgbClr val="F8FAFC"/>
                </a:solidFill>
                <a:latin typeface="Leelawadee UI"/>
              </a:defRPr>
            </a:pPr>
            <a:r>
              <a:t>0 เที่ยว (ปูนไม่แข็งคารถ)</a:t>
            </a:r>
          </a:p>
          <a:p>
            <a:br/>
            <a:pPr>
              <a:defRPr sz="1050" b="1">
                <a:solidFill>
                  <a:srgbClr val="0EA5E9"/>
                </a:solidFill>
                <a:latin typeface="Leelawadee UI"/>
              </a:defRPr>
            </a:pPr>
            <a:r>
              <a:t>ความเร็วในการคำนวณ (Runtime)</a:t>
            </a:r>
          </a:p>
          <a:p>
            <a:pPr>
              <a:defRPr sz="1200" b="1">
                <a:solidFill>
                  <a:srgbClr val="F8FAFC"/>
                </a:solidFill>
                <a:latin typeface="Leelawadee UI"/>
              </a:defRPr>
            </a:pPr>
            <a:r>
              <a:t>0.65 วินาที รวม 4 วัน</a:t>
            </a:r>
          </a:p>
        </p:txBody>
      </p:sp>
      <p:pic>
        <p:nvPicPr>
          <p:cNvPr id="7" name="Picture 6" descr="chart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667512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Leelawadee UI"/>
              </a:defRPr>
            </a:pPr>
            <a:r>
              <a:t>DATA VISUALIZATION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65760"/>
            <a:ext cx="2468880" cy="320040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Leelawadee UI"/>
              </a:defRPr>
            </a:pPr>
            <a:r>
              <a:t>SLA 100% 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Leelawadee UI"/>
              </a:defRPr>
            </a:pPr>
            <a:r>
              <a:t>5. พิสูจน์ผลลัพธ์เปรียบเทียบ: แผนเดิมพนักงาน (Planner) VS แผนของทีมเรา</a:t>
            </a:r>
          </a:p>
        </p:txBody>
      </p:sp>
      <p:pic>
        <p:nvPicPr>
          <p:cNvPr id="6" name="Picture 5" descr="char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85800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463040"/>
            <a:ext cx="365760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Leelawadee UI"/>
              </a:defRPr>
            </a:pPr>
            <a:r>
              <a:t>นัยสำคัญทางธุรกิจที่พิสูจน์ได้จริง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📈 กำไรเพิ่มทันที +12.0%: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แผนเดิมได้กำไร 1,335,121 ฿ แต่แผนของทีมเราสร้างได้ถึง 1,495,416 ฿ เพิ่มขึ้นกว่า 1.6 แสนบาท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🛡️ ตัดความเสียหายเป็นศูนย์: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Cold Joint จาก 20 จุดเหลือ 0 จุด และปูนทิ้งจาก 4 คันเหลือ 0 คัน ปกป้องชื่อเสียงของแบรนด์ CPAC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🎯 ผ่านเกณฑ์ SLA 100%: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แผนเดิมผ่านเพียง 17 จาก 54 เกณฑ์ (ตก 68%) แต่แผนเราผ่านครบ 54 เกณฑ์ 100% ทุกระดับเกรด (G1-G7)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Leelawadee UI"/>
              </a:defRPr>
            </a:pPr>
            <a:r>
              <a:t>BUSINESS IMPACT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65760"/>
            <a:ext cx="2468880" cy="320040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Leelawadee UI"/>
              </a:defRPr>
            </a:pPr>
            <a:r>
              <a:t>SLA 100% 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Leelawadee UI"/>
              </a:defRPr>
            </a:pPr>
            <a:r>
              <a:t>6. การนำข้อมูลไปใช้จริง: จากผลการแข่งสู่ระบบจัดการขนส่งคอนกรีตระดับองค์กร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  <a:latin typeface="Leelawadee UI"/>
              </a:defRPr>
            </a:pPr>
            <a:r>
              <a:t>1. ผลลัพธ์เชิงธุรกิจที่นำไปใช้ได้ทันที (Immediate Value)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💎 รักษาฐานลูกค้า VIP (G1-G3):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ส่งมอบตรงเวลาและต่อเนื่อง 100% ในโครงการระดับ Platinum และ Blue Diamond สร้างความเชื่อมั่นสูงสุด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🚚 ประสิทธิภาพการใช้รถโม่ (Fleet Utilization):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รถโม่ 54-71 คัน ทำงานได้เฉลี่ยสูงถึง 3.45 เที่ยว/คัน/วัน ลดการสต็อกรถและลดการเช่ารถภายนอก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⚡ ลดค่าปรับและค่าเสียเวลา 100%: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ค่าปรับจอดล้นถนน 0 บาท, ค่ารถรอหน้างานลดลงอย่างมีนัยสำคัญ ขจัดต้นทุนแฝงใน Supply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Leelawadee UI"/>
              </a:defRPr>
            </a:pPr>
            <a:r>
              <a:t>2. ต่อยอดสู่ระบบจริงของ CPAC (Future Roadmap)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📡 เชื่อมต่อ Real-time IoT &amp; GPS Telematics: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นำอัลกอริทึมเชื่อมกับระบบติดตาม GPS บนรถโม่จริง เพื่อ Re-dispatch เมื่อเกิดอุบัติเหตุบนท้องถนนแบบ Dynamic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📱 Customer Self-Service Dynamic Booking: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เปิดให้ลูกค้าเลือกช่วงเวลาเทคอนกรีตผ่านแอป โดยระบบเสนอส่วนลดช่วง Off-Peak จูงใจให้เกลี่ยโหลดอัตโนมัติ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🌱 Green Concrete Prioritization:</a:t>
            </a:r>
          </a:p>
          <a:p>
            <a:pPr>
              <a:defRPr sz="1000">
                <a:solidFill>
                  <a:srgbClr val="94A3B8"/>
                </a:solidFill>
                <a:latin typeface="Leelawadee UI"/>
              </a:defRPr>
            </a:pPr>
            <a:r>
              <a:t>คำนวณเลือกโรงงานผลิตปูนซีเมนต์คาร์บอนต่ำ (SCG Low Carbon Cement) ให้ไซต์งานตามเป้าหมาย ESG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Leelawadee UI"/>
              </a:defRPr>
            </a:pPr>
            <a:r>
              <a:t>GREEN LOGISTICS &amp; ESG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65760"/>
            <a:ext cx="2468880" cy="320040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Leelawadee UI"/>
              </a:defRPr>
            </a:pPr>
            <a:r>
              <a:t>NET ZERO 2050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Leelawadee UI"/>
              </a:defRPr>
            </a:pPr>
            <a:r>
              <a:t>7. ขับเคลื่อน Green Logistics &amp; ESG: ผสานความยั่งยืนเข้ากับหัวใจของโลจิสติกส์</a:t>
            </a:r>
          </a:p>
        </p:txBody>
      </p:sp>
      <p:pic>
        <p:nvPicPr>
          <p:cNvPr id="6" name="Picture 5" descr="chart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62179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463040"/>
            <a:ext cx="42976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Leelawadee UI"/>
              </a:defRPr>
            </a:pPr>
            <a:r>
              <a:t>ตอบโจทย์ ESG ครบทั้ง 3 เสาหลัก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🌿 Environmental (สิ่งแวดล้อม):</a:t>
            </a:r>
          </a:p>
          <a:p>
            <a:pPr>
              <a:defRPr sz="980">
                <a:solidFill>
                  <a:srgbClr val="94A3B8"/>
                </a:solidFill>
                <a:latin typeface="Leelawadee UI"/>
              </a:defRPr>
            </a:pPr>
            <a:r>
              <a:t>• ลดการปล่อยก๊าซคาร์บอนไดออกไซด์ 445 kg CO2</a:t>
            </a:r>
            <a:br/>
            <a:r>
              <a:t>• ตัดระยะทางวิ่งเปล่าและโยกรถ 820 กม.</a:t>
            </a:r>
            <a:br/>
            <a:r>
              <a:t>• Zero Concrete Waste: ปูนไม่ทิ้งแม้แต่คิวเดียว ลดการสูญเสียน้ำและหินทรายในการล้างโม่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🤝 Social (สังคมและความปลอดภัย):</a:t>
            </a:r>
          </a:p>
          <a:p>
            <a:pPr>
              <a:defRPr sz="980">
                <a:solidFill>
                  <a:srgbClr val="94A3B8"/>
                </a:solidFill>
                <a:latin typeface="Leelawadee UI"/>
              </a:defRPr>
            </a:pPr>
            <a:r>
              <a:t>• เคารพเขตโรงเรียน 100%: ไม่มีรถบรรทุกวิ่งผ่านช่วงรับส่งนักเรียน 06:30-08:30 น.</a:t>
            </a:r>
            <a:br/>
            <a:r>
              <a:t>• ดูแลคุณภาพชีวิตคนขับ: คุมเวลาทำงาน ไม่เกิด Overtime สะสม</a:t>
            </a:r>
          </a:p>
          <a:p>
            <a:br/>
            <a:pPr>
              <a:defRPr sz="1100" b="1">
                <a:solidFill>
                  <a:srgbClr val="F8FAFC"/>
                </a:solidFill>
                <a:latin typeface="Leelawadee UI"/>
              </a:defRPr>
            </a:pPr>
            <a:r>
              <a:t>⚖️ Governance (ธรรมาภิบาลทางธุรกิจ):</a:t>
            </a:r>
          </a:p>
          <a:p>
            <a:pPr>
              <a:defRPr sz="980">
                <a:solidFill>
                  <a:srgbClr val="94A3B8"/>
                </a:solidFill>
                <a:latin typeface="Leelawadee UI"/>
              </a:defRPr>
            </a:pPr>
            <a:r>
              <a:t>• ส่งมอบตรงตามพันธสัญญา SLA 100%</a:t>
            </a:r>
            <a:br/>
            <a:r>
              <a:t>• ตรวจสอบได้โปร่งใสผ่าน Simulation Logs ทุกเที่ยว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  <a:latin typeface="Leelawadee UI"/>
              </a:defRPr>
            </a:pPr>
            <a:r>
              <a:t>THE 3 WINS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65760"/>
            <a:ext cx="2468880" cy="320040"/>
          </a:xfrm>
          <a:prstGeom prst="roundRect">
            <a:avLst/>
          </a:prstGeom>
          <a:solidFill>
            <a:srgbClr val="065F4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0B981"/>
                </a:solidFill>
                <a:latin typeface="Leelawadee UI"/>
              </a:defRPr>
            </a:pPr>
            <a:r>
              <a:t>SLA 100% PERFECT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Leelawadee UI"/>
              </a:defRPr>
            </a:pPr>
            <a:r>
              <a:t>8. สรุปคุณค่า 3 มิติ (The 3 Wins): ชนะทั้งหน้างาน ธุรกิจ และสิ่งแวดล้อม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47548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  <a:latin typeface="Leelawadee UI"/>
              </a:defRPr>
            </a:pPr>
            <a:r>
              <a:t>1. WIN OPERATIONS</a:t>
            </a:r>
          </a:p>
          <a:p>
            <a:pPr>
              <a:defRPr sz="1050" b="1">
                <a:solidFill>
                  <a:srgbClr val="94A3B8"/>
                </a:solidFill>
                <a:latin typeface="Leelawadee UI"/>
              </a:defRPr>
            </a:pPr>
            <a:r>
              <a:t>หน้างานและวิศวกรรม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🛡️ Zero Cold Joint (0 ครั้ง)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 ป้องกันความเสียหายทางโครงสร้าง 100%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⏱️ Zero Rejection (0 คิว)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 คุมอายุ Slump Life อยู่ในกรอบปลอดภัย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🚦 ลดการรอคิวโรงงานและไซต์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 ค่าปรับจอดล้นถนน 0 บาท รถหมุนเวียนคล่องตัว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29000" cy="47548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EA5E9"/>
                </a:solidFill>
                <a:latin typeface="Leelawadee UI"/>
              </a:defRPr>
            </a:pPr>
            <a:r>
              <a:t>2. WIN BUSINESS</a:t>
            </a:r>
          </a:p>
          <a:p>
            <a:pPr>
              <a:defRPr sz="1050" b="1">
                <a:solidFill>
                  <a:srgbClr val="94A3B8"/>
                </a:solidFill>
                <a:latin typeface="Leelawadee UI"/>
              </a:defRPr>
            </a:pPr>
            <a:r>
              <a:t>ผลตอบแทนทางธุรกิจ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💰 กำไรสะสม ฿1,495,416 THB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 สูงกว่าแผนเดิม +฿160,295 (+12.0%)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🎯 SLA Score 60.0/60 ทุกวัน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 ผ่านครบ 54/54 เกณฑ์ ไม่มีวันไหนตก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🤝 พันธมิตรธุรกิจที่วางใจได้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 รักษาลูกค้า VIP กลุ่ม Blue Diamond ได้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29000" cy="475488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  <a:latin typeface="Leelawadee UI"/>
              </a:defRPr>
            </a:pPr>
            <a:r>
              <a:t>3. WIN SUSTAINABILITY</a:t>
            </a:r>
          </a:p>
          <a:p>
            <a:pPr>
              <a:defRPr sz="1050" b="1">
                <a:solidFill>
                  <a:srgbClr val="94A3B8"/>
                </a:solidFill>
                <a:latin typeface="Leelawadee UI"/>
              </a:defRPr>
            </a:pPr>
            <a:r>
              <a:t>ความยั่งยืนและสังคม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🌍 ลดคาร์บอน -445 kg CO2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 ขับเคลื่อนนโยบาย Net Zero ของเครือ SCG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🛣️ ลดระยะทางวิ่งเปล่า -820 กม.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 บรรเทาปัญหาจราจรติดขัดในเมโทรซิตี้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🎒 ปกป้องความปลอดภัยเด็กนักเรียน</a:t>
            </a:r>
          </a:p>
          <a:p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 หลีกเลี่ยงเขตโรงเรียนช่วงเช้าอย่างเด็ดขาด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4114800" cy="365760"/>
          </a:xfrm>
          <a:prstGeom prst="roundRect">
            <a:avLst/>
          </a:prstGeom>
          <a:solidFill>
            <a:srgbClr val="065F4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Leelawadee UI"/>
              </a:defRPr>
            </a:pPr>
            <a:r>
              <a:t>CONCLUSION &amp;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Leelawadee UI"/>
              </a:defRPr>
            </a:pPr>
            <a:r>
              <a:t>จากระบบจัดรถแบบดั้งเดิม สู่การควบคุมกองรถอัจฉริยะเพื่อความยั่งยืน</a:t>
            </a:r>
          </a:p>
          <a:p>
            <a:pPr>
              <a:defRPr sz="1800">
                <a:solidFill>
                  <a:srgbClr val="0EA5E9"/>
                </a:solidFill>
                <a:latin typeface="Leelawadee UI"/>
              </a:defRPr>
            </a:pPr>
            <a:r>
              <a:t>Autonomous Green Fleet Orchestration for CPAC Ready-Mix Concrete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329184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EA5E9"/>
                </a:solidFill>
                <a:latin typeface="Leelawadee UI"/>
              </a:defRPr>
            </a:pPr>
            <a:r>
              <a:t>ความพร้อมทางเทคนิค (Technical Readiness)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รันจบใน 0.65 วินาที ออฟไลน์ 100%</a:t>
            </a:r>
            <a:br/>
            <a:r>
              <a:t>• ไม่มี Hardcode พร้อมรับมือ Hidden Day 5</a:t>
            </a:r>
            <a:br/>
            <a:r>
              <a:t>• Pass 4 รับประกัน Zero Crash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200400"/>
            <a:ext cx="329184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Leelawadee UI"/>
              </a:defRPr>
            </a:pPr>
            <a:r>
              <a:t>ผลประโยชน์ต่อองค์กร (Organizational Value)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เพิ่มกำไรสุทธิ 1.6 แสนบาท/4 วัน</a:t>
            </a:r>
            <a:br/>
            <a:r>
              <a:t>• ขจัดความเสี่ยงโครงสร้างเสียหายเป็นศูนย์</a:t>
            </a:r>
            <a:br/>
            <a:r>
              <a:t>• ปกป้องความพึงพอใจลูกค้าทุกระดับเกรด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200400"/>
            <a:ext cx="3291840" cy="2286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59E0B"/>
                </a:solidFill>
                <a:latin typeface="Leelawadee UI"/>
              </a:defRPr>
            </a:pPr>
            <a:r>
              <a:t>มุ่งสู่อนาคต Net Zero (Sustainable Future)</a:t>
            </a:r>
          </a:p>
          <a:p>
            <a:br/>
            <a:pPr>
              <a:defRPr sz="1050">
                <a:solidFill>
                  <a:srgbClr val="F8FAFC"/>
                </a:solidFill>
                <a:latin typeface="Leelawadee UI"/>
              </a:defRPr>
            </a:pPr>
            <a:r>
              <a:t>• ประหยัดระยะทางวิ่ง 820 กิโลเมตร</a:t>
            </a:r>
            <a:br/>
            <a:r>
              <a:t>• ลดมลพิษคาร์บอน ขับเคลื่อน ESG เป็นรูปธรรม</a:t>
            </a:r>
            <a:br/>
            <a:r>
              <a:t>• พร้อมติดตั้งใช้งานจริงกับหน่วยงานขนส่ง CPAC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Leelawadee UI"/>
              </a:defRPr>
            </a:pPr>
            <a:r>
              <a:t>ขอขอบคุณคณะกรรมการ CPAC &amp; SCG ทุกท่าน | Q&amp;A Session (พร้อมสาธิต Live Code &amp; Dashboard)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